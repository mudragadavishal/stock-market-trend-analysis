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1" r:id="rId2"/>
    <p:sldId id="257" r:id="rId3"/>
    <p:sldId id="271" r:id="rId4"/>
    <p:sldId id="272" r:id="rId5"/>
    <p:sldId id="273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825061-55AA-4848-B797-EEE10F64D1E8}">
          <p14:sldIdLst>
            <p14:sldId id="261"/>
            <p14:sldId id="257"/>
            <p14:sldId id="271"/>
            <p14:sldId id="272"/>
            <p14:sldId id="273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06" autoAdjust="0"/>
  </p:normalViewPr>
  <p:slideViewPr>
    <p:cSldViewPr snapToGrid="0">
      <p:cViewPr varScale="1">
        <p:scale>
          <a:sx n="96" d="100"/>
          <a:sy n="96" d="100"/>
        </p:scale>
        <p:origin x="130" y="7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F4DF-EEEB-5AE8-A4AB-0682BE68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D7D27-27F7-3622-3B45-EEC91E1D5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59947-EB90-10D4-CBDD-E5A160575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5F4B9-48D5-52D3-B468-F459C38D9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69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C451-3CE6-881E-512D-6F05932F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4C97F-3BBB-CBF4-0C7A-BBE88355B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71089-1AC7-EC3B-C080-52FD3536F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FE3C5-ED73-23DA-7EC0-7402C5A91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6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C3056-B8A5-3300-0CF2-F5EC26BD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67D95-9BF6-5F49-AC04-C3B696A6A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72FAE-7136-DC32-FD08-9DAF4D8F5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0584-C236-BA13-6AD3-FCD8BF219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35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075E9-9709-7C23-3CDD-BD3D7AFB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7899D-2320-5A7B-5952-86435211B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9A717-3D6A-CC74-0B4A-D746E7942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78343-CDFA-004D-00A5-BCA29CE26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52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A3A5F-B13B-897A-4D71-DC08390C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B9596-217D-B83F-4F32-194230FB6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5077C-EF03-B1BA-6159-5A3BB59BF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52766-79C8-7291-946E-4FBE2E2F4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00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10/19/2025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10/19/2025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10/19/2025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10/19/2025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10/19/2025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10/19/2025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032" y="2569761"/>
            <a:ext cx="11827934" cy="1059293"/>
          </a:xfrm>
        </p:spPr>
        <p:txBody>
          <a:bodyPr>
            <a:normAutofit/>
          </a:bodyPr>
          <a:lstStyle/>
          <a:p>
            <a:pPr algn="ctr"/>
            <a:r>
              <a:rPr lang="en-IN" sz="6000" dirty="0"/>
              <a:t>Stock Market Trend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86645" y="4780629"/>
            <a:ext cx="4234889" cy="117990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Presentation By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Student Name: Mudragada Vishal</a:t>
            </a:r>
          </a:p>
          <a:p>
            <a:r>
              <a:rPr lang="en-IN" dirty="0">
                <a:solidFill>
                  <a:schemeClr val="tx2"/>
                </a:solidFill>
              </a:rPr>
              <a:t>Student code  : iitrprai_24102260</a:t>
            </a:r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5C7FE-5538-5D8C-8A2A-1D5A7F45AA90}"/>
              </a:ext>
            </a:extLst>
          </p:cNvPr>
          <p:cNvSpPr txBox="1"/>
          <p:nvPr/>
        </p:nvSpPr>
        <p:spPr>
          <a:xfrm>
            <a:off x="4707465" y="2369706"/>
            <a:ext cx="2777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Presentation on</a:t>
            </a:r>
            <a:endParaRPr lang="en-IN" sz="20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D50A8-3971-CAEE-CCD9-6BCC8184CE9A}"/>
              </a:ext>
            </a:extLst>
          </p:cNvPr>
          <p:cNvSpPr txBox="1"/>
          <p:nvPr/>
        </p:nvSpPr>
        <p:spPr>
          <a:xfrm>
            <a:off x="855133" y="3721335"/>
            <a:ext cx="5240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Chosen Track : AI for Market Trend Analysis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3" y="381615"/>
            <a:ext cx="9601200" cy="114238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Problem Statement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733" y="1219200"/>
            <a:ext cx="10176934" cy="399626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The Problem:</a:t>
            </a:r>
            <a:endParaRPr lang="en-US" dirty="0"/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1800" dirty="0"/>
              <a:t>Financial markets are highly complex, volatile, and non-linear, making stock price prediction a significant challenge. Traditional statistical models often fail to capture these intricate patterns.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Its Importance: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/>
              <a:t>There is a critical need for accessible yet sophisticated analytical tools for investors and financial analysts. Providing accurate, data-driven forecasts can empower better decision-making and risk management in the financial sector.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A021-A29D-BEF6-7DB1-9A84C336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CE90-B5A4-DB0E-DFB1-D7118D6C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614"/>
            <a:ext cx="9601200" cy="115085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Project Outcome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F2C78-004C-E218-E2F0-CBDAC510B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86933"/>
            <a:ext cx="9601200" cy="49106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An interactive web application for stock price prediction.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611B9-AF19-4190-D904-FC5F5C96964B}"/>
              </a:ext>
            </a:extLst>
          </p:cNvPr>
          <p:cNvSpPr txBox="1"/>
          <p:nvPr/>
        </p:nvSpPr>
        <p:spPr>
          <a:xfrm>
            <a:off x="762000" y="2090172"/>
            <a:ext cx="96012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Key Outcomes</a:t>
            </a:r>
            <a:r>
              <a:rPr lang="en-US" b="1" dirty="0"/>
              <a:t>:</a:t>
            </a:r>
          </a:p>
          <a:p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 fully functional dashboard that provides an 8-day forecast for selected stocks.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 user-friendly interface for visualizing complex financial data and model predictions.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 practical tool that makes deep learning accessible for financial analysis.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demonstration will show these outcomes in 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596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96916-18AD-3039-130E-B6A17752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55768-E8FE-A1A2-FCA2-006C0D57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381615"/>
            <a:ext cx="9601200" cy="114238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Objectives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6A76C-74D6-158F-D7F6-A807B930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3" y="1219200"/>
            <a:ext cx="10532534" cy="40809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The key goals of this project were: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Integrate Technical Indicators</a:t>
            </a:r>
            <a:r>
              <a:rPr lang="en-US" b="1" dirty="0"/>
              <a:t>:</a:t>
            </a:r>
            <a:r>
              <a:rPr lang="en-US" dirty="0"/>
              <a:t> To enrich the model's input data by engineering features like Simple Moving Averages, RSI, and MACD.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Ensure High Predictive Accuracy</a:t>
            </a:r>
            <a:r>
              <a:rPr lang="en-US" b="1" dirty="0"/>
              <a:t>:</a:t>
            </a:r>
            <a:r>
              <a:rPr lang="en-US" dirty="0"/>
              <a:t> To develop and train a deep learning model capable of performing with high accuracy on unseen test data.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Deliver an Interactive Dashboard</a:t>
            </a:r>
            <a:r>
              <a:rPr lang="en-US" b="1" dirty="0"/>
              <a:t>:</a:t>
            </a:r>
            <a:r>
              <a:rPr lang="en-US" dirty="0"/>
              <a:t> To present the predictions and analytical data through a clear, comprehensive, and user-friendly interface.</a:t>
            </a:r>
          </a:p>
        </p:txBody>
      </p:sp>
    </p:spTree>
    <p:extLst>
      <p:ext uri="{BB962C8B-B14F-4D97-AF65-F5344CB8AC3E}">
        <p14:creationId xmlns:p14="http://schemas.microsoft.com/office/powerpoint/2010/main" val="288698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D72BD-867B-C49F-0AEE-A9058011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C81E-9705-AD81-5AA7-1B1955AE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381615"/>
            <a:ext cx="9601200" cy="114238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Methodology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4EA84-AB95-EC22-4BE2-3B84C56B9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88533"/>
            <a:ext cx="10803467" cy="408093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accent1"/>
                </a:solidFill>
              </a:rPr>
              <a:t>Approach</a:t>
            </a:r>
            <a:r>
              <a:rPr lang="en-IN" b="1" dirty="0"/>
              <a:t>:</a:t>
            </a:r>
            <a:r>
              <a:rPr lang="en-IN" dirty="0"/>
              <a:t> A time-series forecasting method using a Long Short-Term Memory (LSTM) deep learning model. LSTMs are ideal for capturing long-term patterns in sequential data.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accent1"/>
                </a:solidFill>
              </a:rPr>
              <a:t>Dataset</a:t>
            </a:r>
            <a:r>
              <a:rPr lang="en-IN" b="1" dirty="0"/>
              <a:t>:</a:t>
            </a:r>
            <a:r>
              <a:rPr lang="en-IN" dirty="0"/>
              <a:t> Historical daily stock data (Open, High, Low, Close, Volume) sourced in real-time from the </a:t>
            </a:r>
            <a:r>
              <a:rPr lang="en-IN" dirty="0" err="1"/>
              <a:t>yfinance</a:t>
            </a:r>
            <a:r>
              <a:rPr lang="en-IN" dirty="0"/>
              <a:t> API.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chemeClr val="accent1"/>
                </a:solidFill>
              </a:rPr>
              <a:t>Tools &amp; Technologies</a:t>
            </a:r>
            <a:r>
              <a:rPr lang="en-IN" b="1" dirty="0"/>
              <a:t>:</a:t>
            </a:r>
            <a:endParaRPr lang="en-IN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Backend:</a:t>
            </a:r>
            <a:r>
              <a:rPr lang="en-IN" dirty="0"/>
              <a:t> Python, Pandas, TensorFlow/</a:t>
            </a:r>
            <a:r>
              <a:rPr lang="en-IN" dirty="0" err="1"/>
              <a:t>Keras</a:t>
            </a:r>
            <a:r>
              <a:rPr lang="en-IN" dirty="0"/>
              <a:t>, </a:t>
            </a:r>
            <a:r>
              <a:rPr lang="en-IN" dirty="0" err="1"/>
              <a:t>yfinance</a:t>
            </a:r>
            <a:r>
              <a:rPr lang="en-IN" dirty="0"/>
              <a:t>, pandas-ta.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Frontend:</a:t>
            </a:r>
            <a:r>
              <a:rPr lang="en-IN" dirty="0"/>
              <a:t> </a:t>
            </a:r>
            <a:r>
              <a:rPr lang="en-IN" dirty="0" err="1"/>
              <a:t>Streamlit</a:t>
            </a:r>
            <a:r>
              <a:rPr lang="en-IN" dirty="0"/>
              <a:t>, </a:t>
            </a:r>
            <a:r>
              <a:rPr lang="en-IN" dirty="0" err="1"/>
              <a:t>Plotly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105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11778-2826-2C4B-4687-7FE519E59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6" y="317587"/>
            <a:ext cx="4746414" cy="749214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DE9DA8-3C97-786E-3DED-5D3FD94C03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8066" y="1174537"/>
            <a:ext cx="5350933" cy="3297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Backend Development: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1800" dirty="0"/>
              <a:t>Built data pipelines to fetch and process stock data.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Engineered technical indicator features.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Constructed, trained, and evaluated the LSTM model in TensorFlow.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0FE198-4567-E791-B5E8-962E77F26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9734" y="1174537"/>
            <a:ext cx="5537199" cy="285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dirty="0">
                <a:solidFill>
                  <a:schemeClr val="accent1"/>
                </a:solidFill>
              </a:rPr>
              <a:t>    Frontend Development:</a:t>
            </a:r>
            <a:endParaRPr lang="en-US" dirty="0">
              <a:solidFill>
                <a:schemeClr val="accent1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</a:rPr>
              <a:t>Designed the user interface and layout using </a:t>
            </a:r>
            <a:r>
              <a:rPr lang="en-US" dirty="0" err="1">
                <a:solidFill>
                  <a:schemeClr val="tx2"/>
                </a:solidFill>
              </a:rPr>
              <a:t>Streamlit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</a:rPr>
              <a:t>Created interactive charts and metric displays with </a:t>
            </a:r>
            <a:r>
              <a:rPr lang="en-US" dirty="0" err="1">
                <a:solidFill>
                  <a:schemeClr val="tx2"/>
                </a:solidFill>
              </a:rPr>
              <a:t>Plotly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</a:rPr>
              <a:t>Developed the sidebar controls for user input.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1A2BFC9-9370-CD8B-98D2-E98013D67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66" y="4336019"/>
            <a:ext cx="1076960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Integration: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Connected the frontend UI to the backend analytical engine, allowing user inputs to trigger the entire data processing and prediction workflow.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639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C40E-9DDB-BD73-6F0A-49DFBF39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00654"/>
            <a:ext cx="9601200" cy="668868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Demo /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60CF6-B8CD-E130-0E89-FB27A2D49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969522"/>
            <a:ext cx="1422400" cy="80001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Side Bar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E380DA-D275-AD7C-72CF-ED595999D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67" y="1369528"/>
            <a:ext cx="2548466" cy="4652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743A4D-C172-2E17-878E-0906C9F1508D}"/>
              </a:ext>
            </a:extLst>
          </p:cNvPr>
          <p:cNvSpPr txBox="1"/>
          <p:nvPr/>
        </p:nvSpPr>
        <p:spPr>
          <a:xfrm>
            <a:off x="3606800" y="1330990"/>
            <a:ext cx="7518400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Configure Analysis Parameters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Select a financial instrument and specify the desired range of historical data.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Customize Chart Visualizations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Choose from technical overlays, such as Simple Moving Averages, to enhance the chart display.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Initiate Prediction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Execute the analysis via the control panel to generate the forecast and visualize the results.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153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1C49FA-8BA3-46C9-65FE-85CCD98D4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3715649"/>
            <a:ext cx="5791200" cy="2390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2AA968-1DF3-1800-4157-A3FE6FA71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81" y="3715649"/>
            <a:ext cx="5557520" cy="23906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C0370F-2AB8-84B5-141D-143D5CD5D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" y="654578"/>
            <a:ext cx="10952480" cy="30378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B0AE39-7DD5-2909-0D34-EAF81099609C}"/>
              </a:ext>
            </a:extLst>
          </p:cNvPr>
          <p:cNvSpPr txBox="1"/>
          <p:nvPr/>
        </p:nvSpPr>
        <p:spPr>
          <a:xfrm>
            <a:off x="304801" y="192913"/>
            <a:ext cx="590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Main Screen UI</a:t>
            </a:r>
            <a:endParaRPr lang="en-IN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260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1E27-BCA7-569D-5A2E-D579F2F4E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0632"/>
            <a:ext cx="5410200" cy="603587"/>
          </a:xfrm>
        </p:spPr>
        <p:txBody>
          <a:bodyPr/>
          <a:lstStyle/>
          <a:p>
            <a:r>
              <a:rPr lang="en-US" dirty="0"/>
              <a:t>Technical Indicators: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54643-BBE8-398C-D49E-D84C1EC4C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41751"/>
            <a:ext cx="10937240" cy="44656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232D7C-6D39-491B-448A-ADE8627D1EE3}"/>
              </a:ext>
            </a:extLst>
          </p:cNvPr>
          <p:cNvSpPr txBox="1"/>
          <p:nvPr/>
        </p:nvSpPr>
        <p:spPr>
          <a:xfrm>
            <a:off x="762000" y="854219"/>
            <a:ext cx="1078992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Relative Strength Index (RSI):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It is a momentum indicator that measures the speed and change of price movements to evaluate a stock's strength. Its primary use is to identify potentially overbought (above 70) or oversold (below 30) conditions in the market.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646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B94FE-B4B3-0983-F5D3-E253F420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CA4A-A3BB-1BD2-0ADC-44F676F7B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0632"/>
            <a:ext cx="5410200" cy="603587"/>
          </a:xfrm>
        </p:spPr>
        <p:txBody>
          <a:bodyPr/>
          <a:lstStyle/>
          <a:p>
            <a:r>
              <a:rPr lang="en-US" dirty="0"/>
              <a:t>Technical Indicators: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94E15-0B12-CF7D-0390-0F3398377968}"/>
              </a:ext>
            </a:extLst>
          </p:cNvPr>
          <p:cNvSpPr txBox="1"/>
          <p:nvPr/>
        </p:nvSpPr>
        <p:spPr>
          <a:xfrm>
            <a:off x="762000" y="854219"/>
            <a:ext cx="1078992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Moving Average Convergence Divergence (MACD): </a:t>
            </a:r>
            <a:r>
              <a:rPr lang="en-US" dirty="0"/>
              <a:t>It is a trend-following momentum indicator that shows the relationship between two moving averages of a stock's price. A "buy" signal is typically generated when the MACD line crosses above its signal line, indicating upward momentum.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DB1FD-DC27-73F4-C8EE-412D9CF07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41751"/>
            <a:ext cx="11038840" cy="446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191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57DA-2C03-6993-8A68-C435FF222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20" y="241922"/>
            <a:ext cx="9601200" cy="593427"/>
          </a:xfrm>
        </p:spPr>
        <p:txBody>
          <a:bodyPr/>
          <a:lstStyle/>
          <a:p>
            <a:r>
              <a:rPr lang="en-US" dirty="0"/>
              <a:t>Model Performance/metrics &amp; Architecture: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6B3B-9D20-CB89-05CB-6D15471C3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220" y="787401"/>
            <a:ext cx="11211560" cy="264160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</a:rPr>
              <a:t>Evaluation</a:t>
            </a:r>
            <a:r>
              <a:rPr lang="en-US" sz="1800" b="1" dirty="0"/>
              <a:t>: </a:t>
            </a:r>
            <a:r>
              <a:rPr lang="en-US" sz="1800" dirty="0"/>
              <a:t>It is essential to verify that the model's predictions are reliable on new, unseen data, proving it has learned real market patterns.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</a:rPr>
              <a:t>Accuracy</a:t>
            </a:r>
            <a:r>
              <a:rPr lang="en-US" sz="1800" dirty="0"/>
              <a:t> (100 - MAPE) provides a simple percentage score of how close the model's forecasts are to the actual stock prices.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accent1"/>
                </a:solidFill>
              </a:rPr>
              <a:t>MSE and RMSE: </a:t>
            </a:r>
            <a:r>
              <a:rPr lang="en-US" sz="1800" dirty="0"/>
              <a:t>They</a:t>
            </a:r>
            <a:r>
              <a:rPr lang="en-US" sz="1800" b="1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are error metrics that heavily penalize large prediction mistakes, with RMSE being more interpretable because its units are in dollars, not dollars squared.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EFADD-229B-4639-89D2-DA9E252BB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3429000"/>
            <a:ext cx="11263630" cy="306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72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3736-6389-DF9C-127B-E05B47B7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C27CE-F2D3-9BED-7760-A7F41B17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246148"/>
            <a:ext cx="9601200" cy="1142385"/>
          </a:xfrm>
        </p:spPr>
        <p:txBody>
          <a:bodyPr>
            <a:normAutofit/>
          </a:bodyPr>
          <a:lstStyle/>
          <a:p>
            <a:r>
              <a:rPr lang="en-IN" dirty="0"/>
              <a:t>Results &amp; Observations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DD13F-66FD-109E-32AD-C9DB03C38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3" y="1388533"/>
            <a:ext cx="10532534" cy="40809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High Accuracy</a:t>
            </a:r>
            <a:r>
              <a:rPr lang="en-US" b="1" dirty="0"/>
              <a:t>:</a:t>
            </a:r>
            <a:r>
              <a:rPr lang="en-US" dirty="0"/>
              <a:t> The model consistently achieved </a:t>
            </a:r>
            <a:r>
              <a:rPr lang="en-US" b="1" dirty="0"/>
              <a:t>over 95% accuracy</a:t>
            </a:r>
            <a:r>
              <a:rPr lang="en-US" dirty="0"/>
              <a:t> (calculated as 100 -MAPE) on unseen test data across a diverse set of assets.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Effective Trend Prediction</a:t>
            </a:r>
            <a:r>
              <a:rPr lang="en-US" b="1" dirty="0"/>
              <a:t>:</a:t>
            </a:r>
            <a:r>
              <a:rPr lang="en-US" dirty="0"/>
              <a:t> Visualizations confirmed the model's predictions closely tracked the actual price movements, proving its ability to capture the market's general trend.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Feature Importance</a:t>
            </a:r>
            <a:r>
              <a:rPr lang="en-US" b="1" dirty="0"/>
              <a:t>:</a:t>
            </a:r>
            <a:r>
              <a:rPr lang="en-US" dirty="0"/>
              <a:t> The inclusion of technical indicators provided a consistent, measurable improvement in predictive accuracy.</a:t>
            </a:r>
          </a:p>
        </p:txBody>
      </p:sp>
    </p:spTree>
    <p:extLst>
      <p:ext uri="{BB962C8B-B14F-4D97-AF65-F5344CB8AC3E}">
        <p14:creationId xmlns:p14="http://schemas.microsoft.com/office/powerpoint/2010/main" val="530013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A0CCE-5D00-CA97-DE07-95B41CE5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E76C-C07D-70E0-8A71-3709737A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246148"/>
            <a:ext cx="9601200" cy="1142385"/>
          </a:xfrm>
        </p:spPr>
        <p:txBody>
          <a:bodyPr>
            <a:normAutofit/>
          </a:bodyPr>
          <a:lstStyle/>
          <a:p>
            <a:r>
              <a:rPr lang="en-IN" dirty="0"/>
              <a:t>Conclusion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DF5DD-21A4-B5A8-083E-034FA4055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3" y="1165013"/>
            <a:ext cx="10532534" cy="40809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Project Success: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The dashboard successfully demonstrates the power and practicality of using LSTMs for financial forecasting.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Objectives Met: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The system delivers accurate, multi-day predictions through an insightful, user-friendly, and interactive interface.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Value: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Provides a valuable tool for both novice and experienced analysts to leverage deep learning for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655183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07C33-1B4D-2817-3997-9D3A5A2F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" y="381615"/>
            <a:ext cx="9601200" cy="1142385"/>
          </a:xfrm>
        </p:spPr>
        <p:txBody>
          <a:bodyPr/>
          <a:lstStyle/>
          <a:p>
            <a:r>
              <a:rPr lang="en-US" dirty="0"/>
              <a:t>Future Scope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33B39-8DE7-A444-165E-0F0EA89E1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1524000"/>
            <a:ext cx="10652760" cy="3809999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chemeClr val="accent1"/>
                </a:solidFill>
              </a:rPr>
              <a:t>Advanced Indicators: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Integrate more complex indicators like Bollinger Bands.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accent1"/>
                </a:solidFill>
              </a:rPr>
              <a:t>User Personalization: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Add user accounts for saving watchlists and analyses.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accent1"/>
                </a:solidFill>
              </a:rPr>
              <a:t>Automated Model Optimization: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Implement hyperparameter tuning to further refine accuracy.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accent1"/>
                </a:solidFill>
              </a:rPr>
              <a:t>Sentiment Analysis: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Integrate NLP to analyze financial news sentiment as a predictive feature.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accent1"/>
                </a:solidFill>
              </a:rPr>
              <a:t>Cloud Deployment: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Deploy the application on a cloud platform like AWS or Google Cloud to make it publicly accessible.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602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40EDE8-7D7F-DF7C-72D7-DBA6846D22A0}"/>
              </a:ext>
            </a:extLst>
          </p:cNvPr>
          <p:cNvSpPr txBox="1"/>
          <p:nvPr/>
        </p:nvSpPr>
        <p:spPr>
          <a:xfrm>
            <a:off x="2311400" y="2644170"/>
            <a:ext cx="756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accent1"/>
                </a:solidFill>
              </a:rPr>
              <a:t>THANK YOU</a:t>
            </a:r>
            <a:endParaRPr lang="en-IN" sz="9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543781"/>
      </p:ext>
    </p:extLst>
  </p:cSld>
  <p:clrMapOvr>
    <a:masterClrMapping/>
  </p:clrMapOvr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156</TotalTime>
  <Words>879</Words>
  <Application>Microsoft Office PowerPoint</Application>
  <PresentationFormat>Widescreen</PresentationFormat>
  <Paragraphs>79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Wingdings</vt:lpstr>
      <vt:lpstr>Diamond Grid 16x9</vt:lpstr>
      <vt:lpstr>Stock Market Trend Analysis</vt:lpstr>
      <vt:lpstr>Problem Statement </vt:lpstr>
      <vt:lpstr>Project Outcome </vt:lpstr>
      <vt:lpstr>Objectives </vt:lpstr>
      <vt:lpstr>Methodology </vt:lpstr>
      <vt:lpstr>Implementation</vt:lpstr>
      <vt:lpstr>Demo / Working</vt:lpstr>
      <vt:lpstr>PowerPoint Presentation</vt:lpstr>
      <vt:lpstr>Technical Indicators:</vt:lpstr>
      <vt:lpstr>Technical Indicators:</vt:lpstr>
      <vt:lpstr>Model Performance/metrics &amp; Architecture:</vt:lpstr>
      <vt:lpstr>Results &amp; Observations </vt:lpstr>
      <vt:lpstr>Conclusion </vt:lpstr>
      <vt:lpstr>Future Scope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Mudragada Vishal</dc:creator>
  <cp:lastModifiedBy>Mudragada Vishal</cp:lastModifiedBy>
  <cp:revision>7</cp:revision>
  <dcterms:created xsi:type="dcterms:W3CDTF">2025-10-18T18:24:36Z</dcterms:created>
  <dcterms:modified xsi:type="dcterms:W3CDTF">2025-10-19T14:50:52Z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